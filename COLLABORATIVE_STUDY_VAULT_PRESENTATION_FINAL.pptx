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52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41">
          <p15:clr>
            <a:srgbClr val="747775"/>
          </p15:clr>
        </p15:guide>
      </p15:sldGuideLst>
    </p:ext>
    <p:ext uri="GoogleSlidesCustomDataVersion2">
      <go:slidesCustomData xmlns:go="http://customooxmlschemas.google.com/" r:id="rId9" roundtripDataSignature="AMtx7mhHrbkIkvXodWRhyB5fEswEz3Dm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52" orient="horz"/>
        <p:guide pos="2880"/>
        <p:guide pos="341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customschemas.google.com/relationships/presentationmetadata" Target="metadata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2339eb39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2339eb39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187450" lvl="0" marL="45720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Char char="•"/>
              <a:defRPr/>
            </a:lvl1pPr>
            <a:lvl2pPr indent="-1066800" lvl="1" marL="9144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SzPts val="13200"/>
              <a:buChar char="–"/>
              <a:defRPr/>
            </a:lvl2pPr>
            <a:lvl3pPr indent="-946150" lvl="2" marL="13716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SzPts val="11300"/>
              <a:buChar char="•"/>
              <a:defRPr/>
            </a:lvl3pPr>
            <a:lvl4pPr indent="-825500" lvl="3" marL="1828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–"/>
              <a:defRPr/>
            </a:lvl4pPr>
            <a:lvl5pPr indent="-825500" lvl="4" marL="22860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»"/>
              <a:defRPr/>
            </a:lvl5pPr>
            <a:lvl6pPr indent="-825500" lvl="5" marL="27432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6pPr>
            <a:lvl7pPr indent="-825500" lvl="6" marL="3200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7pPr>
            <a:lvl8pPr indent="-825500" lvl="7" marL="3657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8pPr>
            <a:lvl9pPr indent="-825500" lvl="8" marL="4114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457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066800" lvl="0" marL="457200" algn="l">
              <a:lnSpc>
                <a:spcPct val="10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2900"/>
            </a:lvl1pPr>
            <a:lvl2pPr indent="-946150" lvl="1" marL="9144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2500"/>
            </a:lvl2pPr>
            <a:lvl3pPr indent="-825500" lvl="2" marL="13716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3pPr>
            <a:lvl4pPr indent="-768350" lvl="3" marL="1828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1900"/>
            </a:lvl4pPr>
            <a:lvl5pPr indent="-768350" lvl="4" marL="22860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1900"/>
            </a:lvl5pPr>
            <a:lvl6pPr indent="-768350" lvl="5" marL="27432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6pPr>
            <a:lvl7pPr indent="-768350" lvl="6" marL="32004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7pPr>
            <a:lvl8pPr indent="-768350" lvl="7" marL="3657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8pPr>
            <a:lvl9pPr indent="-768350" lvl="8" marL="4114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9pPr>
          </a:lstStyle>
          <a:p/>
        </p:txBody>
      </p:sp>
      <p:sp>
        <p:nvSpPr>
          <p:cNvPr id="20" name="Google Shape;20;p21"/>
          <p:cNvSpPr txBox="1"/>
          <p:nvPr>
            <p:ph idx="2" type="body"/>
          </p:nvPr>
        </p:nvSpPr>
        <p:spPr>
          <a:xfrm>
            <a:off x="4648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066800" lvl="0" marL="457200" algn="l">
              <a:lnSpc>
                <a:spcPct val="10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2900"/>
            </a:lvl1pPr>
            <a:lvl2pPr indent="-946150" lvl="1" marL="9144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2500"/>
            </a:lvl2pPr>
            <a:lvl3pPr indent="-825500" lvl="2" marL="13716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3pPr>
            <a:lvl4pPr indent="-768350" lvl="3" marL="1828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1900"/>
            </a:lvl4pPr>
            <a:lvl5pPr indent="-768350" lvl="4" marL="22860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1900"/>
            </a:lvl5pPr>
            <a:lvl6pPr indent="-768350" lvl="5" marL="27432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6pPr>
            <a:lvl7pPr indent="-768350" lvl="6" marL="32004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7pPr>
            <a:lvl8pPr indent="-768350" lvl="7" marL="3657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8pPr>
            <a:lvl9pPr indent="-768350" lvl="8" marL="4114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9pPr>
          </a:lstStyle>
          <a:p/>
        </p:txBody>
      </p:sp>
      <p:sp>
        <p:nvSpPr>
          <p:cNvPr id="21" name="Google Shape;21;p21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2500"/>
            </a:lvl1pPr>
            <a:lvl2pPr indent="-2286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9pPr>
          </a:lstStyle>
          <a:p/>
        </p:txBody>
      </p:sp>
      <p:sp>
        <p:nvSpPr>
          <p:cNvPr id="27" name="Google Shape;27;p22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94615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1pPr>
            <a:lvl2pPr indent="-8255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2pPr>
            <a:lvl3pPr indent="-76835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3pPr>
            <a:lvl4pPr indent="-70485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–"/>
              <a:defRPr sz="1600"/>
            </a:lvl4pPr>
            <a:lvl5pPr indent="-70485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»"/>
              <a:defRPr sz="1600"/>
            </a:lvl5pPr>
            <a:lvl6pPr indent="-70485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6pPr>
            <a:lvl7pPr indent="-70485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7pPr>
            <a:lvl8pPr indent="-70485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8pPr>
            <a:lvl9pPr indent="-70485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9pPr>
          </a:lstStyle>
          <a:p/>
        </p:txBody>
      </p:sp>
      <p:sp>
        <p:nvSpPr>
          <p:cNvPr id="28" name="Google Shape;28;p22"/>
          <p:cNvSpPr txBox="1"/>
          <p:nvPr>
            <p:ph idx="3" type="body"/>
          </p:nvPr>
        </p:nvSpPr>
        <p:spPr>
          <a:xfrm>
            <a:off x="4645026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2500"/>
            </a:lvl1pPr>
            <a:lvl2pPr indent="-2286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9pPr>
          </a:lstStyle>
          <a:p/>
        </p:txBody>
      </p:sp>
      <p:sp>
        <p:nvSpPr>
          <p:cNvPr id="29" name="Google Shape;29;p22"/>
          <p:cNvSpPr txBox="1"/>
          <p:nvPr>
            <p:ph idx="4" type="body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94615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1pPr>
            <a:lvl2pPr indent="-8255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2pPr>
            <a:lvl3pPr indent="-76835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3pPr>
            <a:lvl4pPr indent="-70485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–"/>
              <a:defRPr sz="1600"/>
            </a:lvl4pPr>
            <a:lvl5pPr indent="-70485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»"/>
              <a:defRPr sz="1600"/>
            </a:lvl5pPr>
            <a:lvl6pPr indent="-70485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6pPr>
            <a:lvl7pPr indent="-70485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7pPr>
            <a:lvl8pPr indent="-70485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8pPr>
            <a:lvl9pPr indent="-70485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2" y="204788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3575051" y="204789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187450" lvl="0" marL="45720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15100"/>
              <a:buChar char="•"/>
              <a:defRPr sz="3300"/>
            </a:lvl1pPr>
            <a:lvl2pPr indent="-1066800" lvl="1" marL="914400" algn="l">
              <a:lnSpc>
                <a:spcPct val="10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200"/>
              <a:buChar char="–"/>
              <a:defRPr sz="2900"/>
            </a:lvl2pPr>
            <a:lvl3pPr indent="-946150" lvl="2" marL="13716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3pPr>
            <a:lvl4pPr indent="-825500" lvl="3" marL="18288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4pPr>
            <a:lvl5pPr indent="-825500" lvl="4" marL="22860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»"/>
              <a:defRPr sz="2100"/>
            </a:lvl5pPr>
            <a:lvl6pPr indent="-825500" lvl="5" marL="27432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6pPr>
            <a:lvl7pPr indent="-825500" lvl="6" marL="3200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7pPr>
            <a:lvl8pPr indent="-825500" lvl="7" marL="36576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8pPr>
            <a:lvl9pPr indent="-825500" lvl="8" marL="41148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57202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9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6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1792289" y="3600452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/>
          <p:nvPr>
            <p:ph idx="2" type="pic"/>
          </p:nvPr>
        </p:nvSpPr>
        <p:spPr>
          <a:xfrm>
            <a:off x="1792289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1792289" y="4025505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9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6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9pPr>
          </a:lstStyle>
          <a:p/>
        </p:txBody>
      </p:sp>
      <p:sp>
        <p:nvSpPr>
          <p:cNvPr id="44" name="Google Shape;44;p24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 rot="5400000">
            <a:off x="2874751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 rot="5400000">
            <a:off x="5463751" y="1371630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" type="body"/>
          </p:nvPr>
        </p:nvSpPr>
        <p:spPr>
          <a:xfrm rot="5400000">
            <a:off x="1272750" y="-609570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00"/>
              <a:buFont typeface="Calibri"/>
              <a:buNone/>
              <a:defRPr b="0" i="0" sz="20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187450" lvl="0" marL="457200" marR="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66800" lvl="1" marL="914400" marR="0" rtl="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b="0" i="0" sz="1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46150" lvl="2" marL="1371600" marR="0" rtl="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b="0" i="0" sz="1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25500" lvl="3" marL="1828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–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25500" lvl="4" marL="22860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»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25500" lvl="5" marL="27432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5500" lvl="6" marL="32004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25500" lvl="7" marL="36576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25500" lvl="8" marL="4114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idx="1" type="body"/>
          </p:nvPr>
        </p:nvSpPr>
        <p:spPr>
          <a:xfrm>
            <a:off x="642938" y="2196703"/>
            <a:ext cx="7815262" cy="2661047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None/>
            </a:pPr>
            <a:r>
              <a:t/>
            </a:r>
            <a:endParaRPr/>
          </a:p>
          <a:p>
            <a:pPr indent="501650" lvl="0" marL="45720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3415004" y="321994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" name="Google Shape;66;p2"/>
          <p:cNvSpPr txBox="1"/>
          <p:nvPr>
            <p:ph type="title"/>
          </p:nvPr>
        </p:nvSpPr>
        <p:spPr>
          <a:xfrm>
            <a:off x="138224" y="69423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r>
              <a:t>COLLABORATIVE STUDY VAULT</a:t>
            </a:r>
          </a:p>
        </p:txBody>
      </p:sp>
      <p:sp>
        <p:nvSpPr>
          <p:cNvPr id="67" name="Google Shape;67;p2"/>
          <p:cNvSpPr txBox="1"/>
          <p:nvPr/>
        </p:nvSpPr>
        <p:spPr>
          <a:xfrm>
            <a:off x="267767" y="3265616"/>
            <a:ext cx="206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Student Details </a:t>
            </a:r>
          </a:p>
          <a:p>
            <a:r>
              <a:t>DINGARI VIKRAM (24EG105K19)</a:t>
            </a:r>
          </a:p>
          <a:p/>
        </p:txBody>
      </p:sp>
      <p:sp>
        <p:nvSpPr>
          <p:cNvPr id="68" name="Google Shape;68;p2"/>
          <p:cNvSpPr txBox="1"/>
          <p:nvPr/>
        </p:nvSpPr>
        <p:spPr>
          <a:xfrm>
            <a:off x="5470632" y="3239550"/>
            <a:ext cx="207059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Project Guide </a:t>
            </a:r>
          </a:p>
          <a:p>
            <a:r>
              <a:t>[Guide Name]</a:t>
            </a:r>
          </a:p>
          <a:p>
            <a:r>
              <a:t>[Designation]</a:t>
            </a:r>
          </a:p>
        </p:txBody>
      </p:sp>
      <p:sp>
        <p:nvSpPr>
          <p:cNvPr id="69" name="Google Shape;69;p2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Computer Science and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Bookman Old Style"/>
                <a:ea typeface="Bookman Old Style"/>
                <a:cs typeface="Bookman Old Style"/>
                <a:sym typeface="Bookman Old Style"/>
              </a:rPr>
              <a:t>‹#›</a:t>
            </a:fld>
            <a:endParaRPr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415004" y="321994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7" name="Google Shape;77;p3"/>
          <p:cNvSpPr txBox="1"/>
          <p:nvPr>
            <p:ph type="title"/>
          </p:nvPr>
        </p:nvSpPr>
        <p:spPr>
          <a:xfrm>
            <a:off x="1053736" y="541342"/>
            <a:ext cx="61173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</a:pPr>
            <a:r>
              <a:rPr lang="en-US" sz="1600"/>
              <a:t>Index</a:t>
            </a:r>
            <a:endParaRPr sz="1600"/>
          </a:p>
        </p:txBody>
      </p:sp>
      <p:sp>
        <p:nvSpPr>
          <p:cNvPr id="78" name="Google Shape;78;p3"/>
          <p:cNvSpPr txBox="1"/>
          <p:nvPr/>
        </p:nvSpPr>
        <p:spPr>
          <a:xfrm>
            <a:off x="457195" y="1102121"/>
            <a:ext cx="6656100" cy="4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of the Project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&amp; Hardware Requirements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 &amp; Algorithm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Description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/ Output Screens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&amp; Limitations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9" name="Google Shape;79;p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Computer Science and Engineering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internship objectives,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work carried out,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technical learning outcomes,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challenges faced,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relevance to the academic curriculum.</a:t>
            </a:r>
            <a:endParaRPr sz="1600"/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The rapid advancement of technology has transformed education, but study tools remain fragmented.</a:t>
            </a:r>
          </a:p>
          <a:p>
            <a:pPr>
              <a:defRPr sz="1600"/>
            </a:pPr>
            <a:r>
              <a:t>Students constantly switch between Notion (notes), Miro (whiteboards), and Quizlet (flashcards).</a:t>
            </a:r>
          </a:p>
          <a:p>
            <a:pPr>
              <a:defRPr sz="1600"/>
            </a:pPr>
            <a:r>
              <a:t>This context-switching increases cognitive load and reduces study efficiency.</a:t>
            </a:r>
          </a:p>
          <a:p>
            <a:pPr>
              <a:defRPr sz="1600"/>
            </a:pPr>
            <a:r>
              <a:t>Collaborative Study Vault is an all-in-one web platform designed to eliminate this fragmentation by integrating notes, live whiteboards, chat, and AI (Google Gemini).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Platform Fragmentation: Students juggle 5-7 different apps per session.</a:t>
            </a:r>
          </a:p>
          <a:p>
            <a:pPr>
              <a:defRPr sz="1600"/>
            </a:pPr>
            <a:r>
              <a:t>Manual Effort: Creating quizzes and flashcards from notes is time-consuming.</a:t>
            </a:r>
          </a:p>
          <a:p>
            <a:pPr>
              <a:defRPr sz="1600"/>
            </a:pPr>
            <a:r>
              <a:t>Eye Strain: Most platforms default to bright white interfaces.</a:t>
            </a:r>
          </a:p>
          <a:p>
            <a:pPr>
              <a:defRPr sz="1600"/>
            </a:pPr>
            <a:r>
              <a:t>Security Risks: Many platforms use insecure localStorage for JWTs.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Develop a MERN-stack collaborative workspace in a single resizable window.</a:t>
            </a:r>
          </a:p>
          <a:p>
            <a:pPr>
              <a:defRPr sz="1600"/>
            </a:pPr>
            <a:r>
              <a:t>Implement a real-time collaborative HTML5 Canvas whiteboard via WebSockets.</a:t>
            </a:r>
          </a:p>
          <a:p>
            <a:pPr>
              <a:defRPr sz="1600"/>
            </a:pPr>
            <a:r>
              <a:t>Integrate Google Gemini 1.5 Flash AI to generate summaries, quizzes, and flashcards.</a:t>
            </a:r>
          </a:p>
          <a:p>
            <a:pPr>
              <a:defRPr sz="1600"/>
            </a:pPr>
            <a:r>
              <a:t>Engineer a secure system using HttpOnly JWT cookies and CSRF protection.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Scope of the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Secure user authentication, role-based access, and guest login.</a:t>
            </a:r>
          </a:p>
          <a:p>
            <a:pPr>
              <a:defRPr sz="1600"/>
            </a:pPr>
            <a:r>
              <a:t>Workspace management with alphanumeric invite codes.</a:t>
            </a:r>
          </a:p>
          <a:p>
            <a:pPr>
              <a:defRPr sz="1600"/>
            </a:pPr>
            <a:r>
              <a:t>Real-time collaborative note editing with pessimistic locking.</a:t>
            </a:r>
          </a:p>
          <a:p>
            <a:pPr>
              <a:defRPr sz="1600"/>
            </a:pPr>
            <a:r>
              <a:t>AI-assisted study features and whiteboard vision analysis.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Existing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Notion: Excellent for notes, but lacks an integrated live whiteboard and free AI quiz generation.</a:t>
            </a:r>
          </a:p>
          <a:p>
            <a:pPr>
              <a:defRPr sz="1600"/>
            </a:pPr>
            <a:r>
              <a:t>Miro: Great for whiteboarding, but lacks structured rich-text notes.</a:t>
            </a:r>
          </a:p>
          <a:p>
            <a:pPr>
              <a:defRPr sz="1600"/>
            </a:pPr>
            <a:r>
              <a:t>Quizlet: Good for flashcards, but disconnected from where the actual notes are written.</a:t>
            </a:r>
          </a:p>
          <a:p>
            <a:pPr>
              <a:defRPr sz="1600"/>
            </a:pPr>
            <a:r>
              <a:t>Disadvantages: Extreme cognitive fragmentation, expensive premium subscriptions for AI.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Proposed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A unified platform where notes, whiteboard, and AI are side-by-side.</a:t>
            </a:r>
          </a:p>
          <a:p>
            <a:pPr>
              <a:defRPr sz="1600"/>
            </a:pPr>
            <a:r>
              <a:t>Powered by the MERN stack (MongoDB, Express, React, Node.js).</a:t>
            </a:r>
          </a:p>
          <a:p>
            <a:pPr>
              <a:defRPr sz="1600"/>
            </a:pPr>
            <a:r>
              <a:t>Deep Navy Glassmorphism UI designed to reduce eye strain.</a:t>
            </a:r>
          </a:p>
          <a:p>
            <a:pPr>
              <a:defRPr sz="1600"/>
            </a:pPr>
            <a:r>
              <a:t>Instant AI Active Recall: Convert any note to a 5-question quiz or 3D flashcards instantly via Gemini AI.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Software &amp; Hardware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Software:</a:t>
            </a:r>
          </a:p>
          <a:p>
            <a:pPr>
              <a:defRPr sz="1600"/>
            </a:pPr>
            <a:r>
              <a:t>  • Node.js, Express.js, React.js (Vite), MongoDB Atlas</a:t>
            </a:r>
          </a:p>
          <a:p>
            <a:pPr>
              <a:defRPr sz="1600"/>
            </a:pPr>
            <a:r>
              <a:t>  • Socket.io (WebSockets), Google Gemini API</a:t>
            </a:r>
          </a:p>
          <a:p>
            <a:pPr>
              <a:defRPr sz="1600"/>
            </a:pPr>
            <a:r>
              <a:t>Hardware:</a:t>
            </a:r>
          </a:p>
          <a:p>
            <a:pPr>
              <a:defRPr sz="1600"/>
            </a:pPr>
            <a:r>
              <a:t>  • Intel i3 / AMD Ryzen 3 or higher</a:t>
            </a:r>
          </a:p>
          <a:p>
            <a:pPr>
              <a:defRPr sz="1600"/>
            </a:pPr>
            <a:r>
              <a:t>  • 8 GB RAM, 20 GB Disk Space</a:t>
            </a:r>
          </a:p>
          <a:p>
            <a:pPr>
              <a:defRPr sz="1600"/>
            </a:pPr>
            <a:r>
              <a:t>  • Minimum 10 Mbps broadband connection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System Design &amp;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Presentation Tier: React.js SPA managing UI and Socket.io clients.</a:t>
            </a:r>
          </a:p>
          <a:p>
            <a:pPr>
              <a:defRPr sz="1600"/>
            </a:pPr>
            <a:r>
              <a:t>Application Tier: Node/Express server handling REST APIs, CSRF validation, and WebSocket broadcasting.</a:t>
            </a:r>
          </a:p>
          <a:p>
            <a:pPr>
              <a:defRPr sz="1600"/>
            </a:pPr>
            <a:r>
              <a:t>Data Tier: MongoDB Atlas storing Users, Workspaces, Notes, and Stroke Vectors.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pic>
        <p:nvPicPr>
          <p:cNvPr id="5" name="Picture 4" descr="system_architecture_diagram_1782903778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Modules Description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Auth Module: JWT HttpOnly cookies, bcrypt hashing, guest accounts.</a:t>
            </a:r>
          </a:p>
          <a:p>
            <a:pPr>
              <a:defRPr sz="1600"/>
            </a:pPr>
            <a:r>
              <a:t>Workspace Module: Resizable 3-panel layout, invite codes, role management.</a:t>
            </a:r>
          </a:p>
          <a:p>
            <a:pPr>
              <a:defRPr sz="1600"/>
            </a:pPr>
            <a:r>
              <a:t>Whiteboard Module: HTML5 Canvas, stroke normalization, Socket.io sync.</a:t>
            </a:r>
          </a:p>
          <a:p>
            <a:pPr>
              <a:defRPr sz="1600"/>
            </a:pPr>
            <a:r>
              <a:t>AI Recall Module: Gemini Flash integration for summaries, quizzes, flashcards, and tutor chat.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11a. Results: Landing Page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home_page_17829000289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3554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11b. Results: 3-Panel Workspace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workspace_page_1782900140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3554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11c. Results: Whiteboard &amp;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workspace_whiteboard_17829001599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3554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Advantages &amp; 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Advantages:</a:t>
            </a:r>
          </a:p>
          <a:p>
            <a:pPr>
              <a:defRPr sz="1600"/>
            </a:pPr>
            <a:r>
              <a:t>  • Eliminates context-switching; dark-mode reduces eye strain.</a:t>
            </a:r>
          </a:p>
          <a:p>
            <a:pPr>
              <a:defRPr sz="1600"/>
            </a:pPr>
            <a:r>
              <a:t>  • AI drastically reduces time taken to create study aids.</a:t>
            </a:r>
          </a:p>
          <a:p>
            <a:pPr>
              <a:defRPr sz="1600"/>
            </a:pPr>
            <a:r>
              <a:t>Limitations:</a:t>
            </a:r>
          </a:p>
          <a:p>
            <a:pPr>
              <a:defRPr sz="1600"/>
            </a:pPr>
            <a:r>
              <a:t>  • AI features depend heavily on a valid Google Gemini API key.</a:t>
            </a:r>
          </a:p>
          <a:p>
            <a:pPr>
              <a:defRPr sz="1600"/>
            </a:pPr>
            <a:r>
              <a:t>  • No offline mode (requires constant internet connection).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Internship &amp; Learning Outcomes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Objectives: Gain hands-on experience in full-stack web development (MERN).</a:t>
            </a:r>
          </a:p>
          <a:p>
            <a:pPr>
              <a:defRPr sz="1600"/>
            </a:pPr>
            <a:r>
              <a:t>Work Carried Out: Designed UI/UX, built backend REST APIs, integrated WebSockets and AI.</a:t>
            </a:r>
          </a:p>
          <a:p>
            <a:pPr>
              <a:defRPr sz="1600"/>
            </a:pPr>
            <a:r>
              <a:t>Tech Learning: Mastered React hooks, Socket.io rooms, MongoDB schemas, and API rate-limiting.</a:t>
            </a:r>
          </a:p>
          <a:p>
            <a:pPr>
              <a:defRPr sz="1600"/>
            </a:pPr>
            <a:r>
              <a:t>Challenges: Normalizing whiteboard coordinates across different screen sizes and managing CSRF securely.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Future Enhancements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Integrate WebRTC for real-time audio and video conferencing in study rooms.</a:t>
            </a:r>
          </a:p>
          <a:p>
            <a:pPr>
              <a:defRPr sz="1600"/>
            </a:pPr>
            <a:r>
              <a:t>Implement CRDTs (like Yjs) for true simultaneous multi-cursor note editing.</a:t>
            </a:r>
          </a:p>
          <a:p>
            <a:pPr>
              <a:defRPr sz="1600"/>
            </a:pPr>
            <a:r>
              <a:t>Develop an offline-capable Progressive Web App (PWA).</a:t>
            </a:r>
          </a:p>
          <a:p>
            <a:pPr>
              <a:defRPr sz="1600"/>
            </a:pPr>
            <a:r>
              <a:t>Add an AI-driven Spaced Repetition scheduling algorithm for flashcards.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Collaborative Study Vault successfully unifies critical study tools into a single, cohesive, highly secure workspace.</a:t>
            </a:r>
          </a:p>
          <a:p>
            <a:pPr>
              <a:defRPr sz="1600"/>
            </a:pPr>
            <a:r>
              <a:t>By combining the real-time capabilities of the MERN stack with the generative power of Gemini AI, it provides a differentiated and highly effective learning environment.</a:t>
            </a:r>
          </a:p>
          <a:p>
            <a:pPr>
              <a:defRPr sz="1600"/>
            </a:pPr>
            <a:r>
              <a:t>The project demonstrates the immense potential of modern web technologies to solve practical educational challenges.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React.js Official Documentation (react.dev)</a:t>
            </a:r>
          </a:p>
          <a:p>
            <a:pPr>
              <a:defRPr sz="1600"/>
            </a:pPr>
            <a:r>
              <a:t>Express.js and Node.js API Reference</a:t>
            </a:r>
          </a:p>
          <a:p>
            <a:pPr>
              <a:defRPr sz="1600"/>
            </a:pPr>
            <a:r>
              <a:t>Google Gemini API Documentation (ai.google.dev)</a:t>
            </a:r>
          </a:p>
          <a:p>
            <a:pPr>
              <a:defRPr sz="1600"/>
            </a:pPr>
            <a:r>
              <a:t>Socket.io Documentation for WebSockets</a:t>
            </a:r>
          </a:p>
          <a:p>
            <a:pPr>
              <a:defRPr sz="1600"/>
            </a:pPr>
            <a:r>
              <a:t>MDN Web Docs: HTML5 Canvas API</a:t>
            </a:r>
          </a:p>
          <a:p>
            <a:pPr>
              <a:defRPr sz="1600"/>
            </a:pPr>
            <a:r>
              <a:t>OWASP Cross-Site Request Forgery Prevention Guidelines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</dc:creator>
</cp:coreProperties>
</file>